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54557-975D-D647-B2AC-02CFB014B76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380B7-CE1A-444E-A713-B58CAB1D0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6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371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</a:rPr>
              <a:t>SPARK BY CIO ACADEMY ASIA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SafeAI.sg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Advisory Council Charter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05840" y="2487168"/>
            <a:ext cx="49377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334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Securing Singapore's AI Future · Enabling Confident, Governed AI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Grounded in Proportionality · Practicality · Independence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7A9BAD"/>
                </a:solidFill>
              </a:rPr>
              <a:t>Centre of Excellence  ·  Singapore  ·  Version 1.0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PREAMBLE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749040" cy="2194560"/>
          </a:xfrm>
          <a:prstGeom prst="rect">
            <a:avLst/>
          </a:prstGeom>
          <a:solidFill>
            <a:srgbClr val="1A3A4A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74520"/>
            <a:ext cx="16916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UNDER-GOVERNED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Deployed Without Guardrails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Enterprises adopt AI in ways that expose customers, staff, and society to avoidable harm — without adequate technical controls or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3749040" cy="2194560"/>
          </a:xfrm>
          <a:prstGeom prst="rect">
            <a:avLst/>
          </a:prstGeom>
          <a:solidFill>
            <a:srgbClr val="1A3A4A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74520"/>
            <a:ext cx="16002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74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OVER-GOVERNED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Innovation Paralysed by Compliance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Blanket compliance processes designed for high-stakes scenarios are applied to low-risk tools — creating friction that stalls innovation and drives AI initiatives underground.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26517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vs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8138160" cy="7315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is established to close this gap — Singapore's industry-led Centre of Excellence for AI technical safety and practical governance, enabling confident AI deployment at the appropriate level of rigour.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I  ·  MISSION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Five Delivery Pillars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813816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78992"/>
            <a:ext cx="7818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exists to make AI deployment safer, more confident, and more economically rational — providing a risk-weighted governance framework, curated technical controls, and a trusted practitioner community that enables Singapore enterprises, agencies, and technology teams to deploy AI with confidence at the right level of rigour.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10512"/>
            <a:ext cx="1572768" cy="5852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8408" y="1883664"/>
            <a:ext cx="1005840" cy="18288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</a:rPr>
              <a:t>FREE · OPEN · SELF-SERVICE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 Risk Assessment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Toolkit &amp; UARS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487168"/>
            <a:ext cx="14081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Self-service scoring toolkit, freely accessible online. Any organisation determines the right governance tier for any AI use case in under 30 minutes.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25980" y="1810512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25980" y="1810512"/>
            <a:ext cx="1572768" cy="585216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742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01468" y="1883664"/>
            <a:ext cx="1005840" cy="18288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1468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</a:rPr>
              <a:t>DEMONSTRATE · NOT ENDORSE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217420" y="21031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Technology Associate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Showcase Programme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17420" y="2487168"/>
            <a:ext cx="14081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companies demonstrate how AI governance controls work in real production environments. SafeAI.sg does not endorse, certify, or validate any Associate technology.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49040" y="1810512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810512"/>
            <a:ext cx="1572768" cy="585216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24528" y="1883664"/>
            <a:ext cx="1005840" cy="18288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</a:rPr>
              <a:t>LEVEL 0 → LEVEL 3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840480" y="21031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Professional Certification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Skills Development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0" y="2487168"/>
            <a:ext cx="14081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Co-developed with Singapore's institutes of higher learning. Four certification levels from career conversion (Level 0) through to Chief Architect (Level 3).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72100" y="1810512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72100" y="1810512"/>
            <a:ext cx="1572768" cy="585216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354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47588" y="1883664"/>
            <a:ext cx="1005840" cy="18288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7588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</a:rPr>
              <a:t>INTENT WINDOW PRINCIPLE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5463540" y="21031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Agentic Runtime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Observability &amp; Governance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63540" y="2487168"/>
            <a:ext cx="14081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 declared agent intent before action is taken — not after. Addressing three critical gaps in pre-execution interception, trajectory monitoring, and context integrity.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95160" y="1810512"/>
            <a:ext cx="15727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95160" y="1810512"/>
            <a:ext cx="1572768" cy="58521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70648" y="1883664"/>
            <a:ext cx="1005840" cy="18288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0648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FFFFFF"/>
                </a:solidFill>
              </a:rPr>
              <a:t>INFORM · OPTIMISE · OPERATE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7086600" y="21031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FinOps &amp;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Cost Governance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86600" y="2487168"/>
            <a:ext cx="14081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economics as a governance concern — from budget controls and context hygiene to denial-of-wallet attack detection and AI cost anomaly as a security signal.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502920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pillars spanning risk scoring, governance tooling, workforce development, agentic runtime controls, and AI cost governance — addressing the full lifecycle of practical AI governance.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STRATEGIC POSITIONING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SafeAI.sg at Punggol Digital District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2633472" cy="1828800"/>
          </a:xfrm>
          <a:prstGeom prst="rect">
            <a:avLst/>
          </a:prstGeom>
          <a:solidFill>
            <a:srgbClr val="1A3A4A"/>
          </a:solidFill>
          <a:ln w="1524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61872"/>
            <a:ext cx="263347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 Location Advantage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64792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National Cybersecurity Authority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020824"/>
            <a:ext cx="2221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Next-door co-location enables real-time threat intelligence sharing and joint red-teaming cadence.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2316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Policy Agencies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679192"/>
            <a:ext cx="2221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Rapid co-innovation on sovereign AI use cases aligned to national AI strategy.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261872"/>
            <a:ext cx="2633472" cy="1828800"/>
          </a:xfrm>
          <a:prstGeom prst="rect">
            <a:avLst/>
          </a:prstGeom>
          <a:solidFill>
            <a:srgbClr val="1A3A4A"/>
          </a:solidFill>
          <a:ln w="1524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5331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SPARK × JTC Synergy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182880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1764792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Mutual community activation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020824"/>
            <a:ext cx="2221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SPARK's 16,000+ CIOs/CTOs cross-pollinate with JTC's PDD enterprise and start-up ecosystem.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29000" y="248716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42316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Neutral convening ground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93592" y="2679192"/>
            <a:ext cx="2221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JTC's mandate and SPARK's independence create a trusted, non-commercial platform for frank industry dialogue.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1261872"/>
            <a:ext cx="2633472" cy="1828800"/>
          </a:xfrm>
          <a:prstGeom prst="rect">
            <a:avLst/>
          </a:prstGeom>
          <a:solidFill>
            <a:srgbClr val="1A3A4A"/>
          </a:solidFill>
          <a:ln w="1524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261872"/>
            <a:ext cx="263347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35331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🌏  Singapore's AI Asset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764792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Unique global positioning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82512" y="2020824"/>
            <a:ext cx="2221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only country with an industry-led CoE dedicated to helping companies adopt AI with robust governance built in.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248716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42316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JTC's FDI attraction mandate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82512" y="2679192"/>
            <a:ext cx="2221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gives overseas AI innovators a trusted, governed entry point into Singapore and ASEAN.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255264"/>
            <a:ext cx="8302752" cy="1664208"/>
          </a:xfrm>
          <a:prstGeom prst="rect">
            <a:avLst/>
          </a:prstGeom>
          <a:solidFill>
            <a:srgbClr val="0A1929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" y="33284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</a:rPr>
              <a:t>INDUSTRY INTELLIGENCE LOOP  ·  Shaping Singapore's AI Operating Landscape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" y="3657600"/>
            <a:ext cx="1901952" cy="1143000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3712464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🏢  Community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Engagement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9808" y="4133088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CIOs &amp; CISOs share real adoption challenges, tool gaps &amp; governance pain points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78608" y="40599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61488" y="3657600"/>
            <a:ext cx="1901952" cy="1143000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52928" y="3712464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🔬  Insight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Synthesis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52928" y="4133088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Advisory Council distils patterns into structured policy briefs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81728" y="40599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64608" y="3657600"/>
            <a:ext cx="1901952" cy="1143000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712464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📣  Agency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Briefings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56048" y="4133088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Findings surfaced to regulatory and economic agencies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84848" y="405993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967728" y="3657600"/>
            <a:ext cx="1901952" cy="1143000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3712464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✅  Landscape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Shifts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59168" y="4133088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Clearer pathways &amp; safe harbours that accelerate AI adoption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II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Target Community &amp; Stakeholders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3749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17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Enterprise CIOs &amp; CTOs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make proportionate governance decisions for AI initiatives across multiple business units — enabling more initiatives to reach production rather than stalling in committees.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80160"/>
            <a:ext cx="3749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417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CISOs &amp; Security Leaders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28032" y="178308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Extending governance beyond classical cybersecurity to address new attack surfaces: AI agents, multi-agent systems, generative AI infrastructure, and autonomous workflows.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71800"/>
            <a:ext cx="3749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AI Engineering &amp; MLOps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" y="347472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practitioners who implement AI systems and need concrete, implementable control specifications, reference architectures, and testing methodologies.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3749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Risk &amp; Compliance Teams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28032" y="347472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Developing AI-specific risk appetite statements, audit frameworks, and board reporting with a structured risk vocabulary connecting AI risk to enterprise risk management.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681728"/>
            <a:ext cx="8138160" cy="292608"/>
          </a:xfrm>
          <a:prstGeom prst="rect">
            <a:avLst/>
          </a:prstGeom>
          <a:solidFill>
            <a:srgbClr val="0D2137">
              <a:alpha val="90000"/>
            </a:srgbClr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00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Partners: National cybersecurity authorities  ·  Digital policy agencies  ·  Financial regulators  ·  Academic &amp; research institutions  ·  International AI safety bodies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III  ·  ECONOMIC AGENCY PARTNERSHIPS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Singapore's Ecosystem Partner of Choice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1615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Strategic Partnership with Singapore's Economic Development &amp; Investment Agencies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260604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27632"/>
            <a:ext cx="26060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2C39A"/>
                </a:solidFill>
              </a:rPr>
              <a:t>ROLE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648" y="1837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🌐  Ecosystem Showcase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FDI Enablement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serves as live demonstration that Singapore possesses the governance infrastructure, skilled practitioners, and knowledge networks to support the full AI deployment lifecycle. Agencies leverage this to accelerate go-to-market for foreign companies choosing Singapore as their regional AI hub.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4645152"/>
            <a:ext cx="2423160" cy="201168"/>
          </a:xfrm>
          <a:prstGeom prst="rect">
            <a:avLst/>
          </a:prstGeom>
          <a:solidFill>
            <a:srgbClr val="E8F4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5429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28090"/>
                </a:solidFill>
              </a:rPr>
              <a:t>Only country with an industry-led CoE dedicated to AI adoption with governance built in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37560" y="1627632"/>
            <a:ext cx="260604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627632"/>
            <a:ext cx="2606040" cy="658368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2C39A"/>
                </a:solidFill>
              </a:rPr>
              <a:t>ROLE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47288" y="1837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🔄  Regulatory Feedback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Loop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340864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provides a structured channel for ground-level practitioner intelligence to flow to agencies and regulatory bodies — systematically gathering evidence of where AI governance guidelines create friction or need modernisation. A knowledge function, not a lobbying function.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29000" y="4645152"/>
            <a:ext cx="2423160" cy="201168"/>
          </a:xfrm>
          <a:prstGeom prst="rect">
            <a:avLst/>
          </a:prstGeom>
          <a:solidFill>
            <a:srgbClr val="E8F4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65429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28090"/>
                </a:solidFill>
              </a:rPr>
              <a:t>Evidence-based feedback from practitioners to inform where guidelines need to evolve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72200" y="1627632"/>
            <a:ext cx="260604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627632"/>
            <a:ext cx="260604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2C39A"/>
                </a:solidFill>
              </a:rPr>
              <a:t>ROLE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81928" y="1837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🧪  Pilot Stress-Testing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Deployment Readiness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340864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provides structured peer-review engagements where senior AI governance practitioners stress-test company AI pilots and deployments against the UARS framework — for both foreign companies establishing AI operations and Singapore companies scaling deployments.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4645152"/>
            <a:ext cx="2423160" cy="201168"/>
          </a:xfrm>
          <a:prstGeom prst="rect">
            <a:avLst/>
          </a:prstGeom>
          <a:solidFill>
            <a:srgbClr val="E8F4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65429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28090"/>
                </a:solidFill>
              </a:rPr>
              <a:t>Programme independence maintained — practitioner assessments, not regulatory approvals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2920" y="4919472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Programme independence maintained — assessments are practitioner reviews, not compliance certifications or regulatory approvals.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PART IV  ·  PILLAR 1  ·  PROPOSED ILLUSTRATIVE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AI Use-Case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(UARS)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03720" y="502920"/>
            <a:ext cx="1874520" cy="8961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03720" y="502920"/>
            <a:ext cx="1874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0D2137"/>
                </a:solidFill>
              </a:rPr>
              <a:t>FREE · OPEN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kern="0" spc="80" dirty="0">
                <a:solidFill>
                  <a:srgbClr val="0D2137"/>
                </a:solidFill>
              </a:rPr>
              <a:t>SELF-SERVICE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lightweight, five-dimension scoring instrument. Applied in under 30 minutes. Proposed as an open illustrative framework — no registration, no cost — for any organisation to freely use as a starting point.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8138160" cy="658368"/>
          </a:xfrm>
          <a:prstGeom prst="rect">
            <a:avLst/>
          </a:prstGeom>
          <a:solidFill>
            <a:srgbClr val="E0F2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011680"/>
            <a:ext cx="7909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FRAMEWORK NOTICE  </a:t>
            </a:r>
            <a:r>
              <a:rPr lang="en-US" sz="8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UARS and governance tier structure are illustrative examples, not a finalised standard, regulatory requirement, or compliance obligation. Organisations are encouraged to adapt and challenge this framework.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8138160" cy="47548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Formula:  UARS = (A × 2) + (B × 2) + (C × 1.5) + (D × 1.5) + (E × 1)     |     Indicative Range: 7 – 21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1536192" cy="157276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42416" y="34107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" y="39319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×2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" y="4187952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Autonomy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448056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Degree of independent decision-making and action without human intervention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94560" y="3337560"/>
            <a:ext cx="1536192" cy="157276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34056" y="34107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04288" y="39319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×2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67712" y="4187952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Sensitivity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67712" y="448056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 of data accessed: public, internal, regulated, or PII/financial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86200" y="3337560"/>
            <a:ext cx="1536192" cy="157276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25696" y="34107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5696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95928" y="39319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×1.5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9352" y="4187952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Attack Surface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59352" y="448056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Exposure scope: fully internal through to internet-facing multi-agent mesh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77840" y="3337560"/>
            <a:ext cx="1536192" cy="157276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34107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87568" y="39319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×1.5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50992" y="4187952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Consequentiality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50992" y="448056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Reversibility and impact of agent actions: read-only to irreversible external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269480" y="3337560"/>
            <a:ext cx="1536192" cy="157276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08976" y="34107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8976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79208" y="39319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×1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42632" y="4187952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Error Tolerance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42632" y="448056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Domain tolerance for incorrect outputs: high to zero-tolerance critical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IV  ·  UARS  ·  ILLUSTRATIVE TIERS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</a:rPr>
              <a:t>Indicative Risk Bands &amp; Proposed Governance Tiers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606040" cy="594360"/>
          </a:xfrm>
          <a:prstGeom prst="rect">
            <a:avLst/>
          </a:prstGeom>
          <a:solidFill>
            <a:srgbClr val="2A8A6E"/>
          </a:solidFill>
          <a:ln w="12700">
            <a:solidFill>
              <a:srgbClr val="2A8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DDDD"/>
                </a:solidFill>
              </a:rPr>
              <a:t>TIER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83080" y="1280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Indicative UARS 7–10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AI Governance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20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AD"/>
                </a:solidFill>
              </a:rPr>
              <a:t>Applies to: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2648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Limited autonomy · Read-only tools · Non-regulated data · Internal attack surface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2648" y="2670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AD"/>
                </a:solidFill>
              </a:rPr>
              <a:t>Mandatory Controls: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2648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Guardrails &amp; Output Filtering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2648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Identity &amp; Access Baseline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" y="3520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 defences + output classifiers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" y="46177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Policy-as-Code Review (Monthly)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37560" y="123444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234440"/>
            <a:ext cx="26060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DDDD"/>
                </a:solidFill>
              </a:rPr>
              <a:t>TIER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1280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Indicative UARS 11–15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4728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Agentic Governance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47288" y="1920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AD"/>
                </a:solidFill>
              </a:rPr>
              <a:t>Applies to: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47288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Meaningful autonomy · Internal writes · Business-sensitive data · Internal APIs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47288" y="2670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AD"/>
                </a:solidFill>
              </a:rPr>
              <a:t>Mandatory Controls: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47288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Human-in-the-Loop (HITL) Checkpoint Architecture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47288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Allowlisting &amp; Tool Scope Enforcement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47288" y="3520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Least-privilege tooling per agent role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47288" y="46177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Workflow Threat Model (Per Use Case)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72200" y="123444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234440"/>
            <a:ext cx="260604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DDDD"/>
                </a:solidFill>
              </a:rPr>
              <a:t>TIER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52360" y="1280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Indicative UARS 16–21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8192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AI Safety Stack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81928" y="1920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AD"/>
                </a:solidFill>
              </a:rPr>
              <a:t>Applies to: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81928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Fully autonomous · Irreversible external actions · Regulated/PII data · Internet-facing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81928" y="2670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BAD"/>
                </a:solidFill>
              </a:rPr>
              <a:t>Mandatory Controls: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81928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AI-SPM &amp; Generative AI Firewall (GAF)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81928" y="3200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Control Plane with Circuit Breakers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81928" y="3520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Pre-Deployment Safety Case + Simulation Testing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81928" y="46177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Continuous Red-Team + Incident Playbook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48463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AD"/>
                </a:solidFill>
              </a:rPr>
              <a:t>UARS is intended as a living score, not a one-time compliance gate. Re-score when use-case parameters change. These tiers are proposed for community validation and iterative refinement.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PART IV  ·  UARS 4.5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Policy-as-Code Principle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Eliminating governance drift: the gap between documented policy and implemented control.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920240" cy="260604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 Defined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Guardrail rules, tool permissions, HITL checkpoints, and monitoring thresholds set for each use case.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95728" y="2907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1828800"/>
            <a:ext cx="1920240" cy="260604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4505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Encoded 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Versioned Artefacts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Machine-readable policy artefacts deployed through a centralised policy engine.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44568" y="2907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828800"/>
            <a:ext cx="1920240" cy="260604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24505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Deployed via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Pipeline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Policies automatically applied to all systems within the AI use case's operational scope.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2907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828800"/>
            <a:ext cx="1920240" cy="260604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24505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Auto-Propagation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 Update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policy updates, all affected systems re-validate automatically — no manual re-configuration.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Any system that the AI use case touches inherits the relevant controls on deployment — automatically, consistently, without manual re-configuration.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VI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</a:rPr>
              <a:t>Advisory Council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749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Government &amp; Digital Policy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Representatives from government technology and digital policy bodies providing public sector context and alignment with national AI governance priorities.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749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Cybersecurity &amp; National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Practitioners from national cybersecurity authorities providing security expertise, threat intelligence, and alignment with national cybersecurity frameworks.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3749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50592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4203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Financial Services &amp; Regulated Industries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Senior practitioners from regulated financial institutions and industries operating under the most demanding AI governance requirements.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50592"/>
            <a:ext cx="3749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50592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4203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Academic &amp; Research Institutions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07792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safety researchers and governance scholars from universities and research institutions providing research rigour and connection to the global AI safety literature.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666744"/>
            <a:ext cx="3749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66744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5818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Enterprise Technology Leadership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123944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Sitting CIOs, CTOs, and CISOs from large enterprises bringing practitioner credibility and real-world deployment experience to framework development.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666744"/>
            <a:ext cx="3749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66744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5818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International Partnerships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23944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Representatives from peer AI safety bodies in the United Kingdom, United States, and Asia-Pacific enabling global benchmarking and knowledge exchange.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681728"/>
            <a:ext cx="813816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700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Meeting Cadence: Minimum twice per year  ·  Independence: Non-regulatory · Non-endorsing · Non-certifying  ·  Personal Capacity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2C39A"/>
                </a:solidFill>
                <a:latin typeface="Calibri"/>
              </a:rPr>
              <a:t>FOUNDING ADVISORY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10 Confirmed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298448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CSA / NCS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4" y="1722796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BG Edward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51684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Former Deputy CE, CSA
Incoming CAIO, NCS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7750" y="1298448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17750" y="1298448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54326" y="1298448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CSIT / DDH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5864" y="1722796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Dr. Adrian Tang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7750" y="1951684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Group Director
Digital Defence 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8300" y="1298448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78300" y="1298448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4876" y="1298448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Grab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6414" y="1722796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Nikhil Dwarakanath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8300" y="1951684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Group Head of
Data &amp;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38851" y="1298448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38851" y="1298448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75427" y="1298448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Temasek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6965" y="1722796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Cheri Lim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8851" y="1951684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Chief Information
Security Officer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99401" y="1298448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99401" y="1298448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5977" y="1298448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7515" y="1722796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Glen Francis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9401" y="1951684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CTO for Cloud
Asia Pacific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51760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2651760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" y="2651760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JTC Corporation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4" y="3076108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Bing Wan Tang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304996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Chief
Digital Officer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17750" y="2651760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17750" y="2651760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54326" y="2651760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DBS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5864" y="3076108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Luis Carlos Cruz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7750" y="3304996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Executive Director
Tech Infrastructure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78300" y="2651760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778300" y="2651760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14876" y="2651760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Temasek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6414" y="3076108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Baskara Rao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8300" y="3304996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Chief
Technology Officer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38851" y="2651760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38851" y="2651760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75427" y="2651760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Veeam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26965" y="3076108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David Allott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38851" y="3304996"/>
            <a:ext cx="1514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Field CISO
APJ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99401" y="2651760"/>
            <a:ext cx="1587398" cy="1207008"/>
          </a:xfrm>
          <a:prstGeom prst="rect">
            <a:avLst/>
          </a:prstGeom>
          <a:solidFill>
            <a:srgbClr val="1A3A4A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099401" y="2651760"/>
            <a:ext cx="158739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5977" y="2651760"/>
            <a:ext cx="151424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7515" y="3076108"/>
            <a:ext cx="151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Rodney Tan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99401" y="3304996"/>
            <a:ext cx="151424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4F8"/>
                </a:solidFill>
                <a:latin typeface="Calibri"/>
              </a:rPr>
              <a:t>Director
Cybersecurity Engrg Centre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873752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7A9BAD"/>
                </a:solidFill>
                <a:latin typeface="Calibri"/>
              </a:rPr>
              <a:t>All members participate in a personal capacity — membership does not constitute endorsement by any member's employing organisation, affiliated institution, or regulatory body.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VI  ·  6.3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</a:rPr>
              <a:t>Advisory Council Responsibilities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536192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Strategic Direction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170078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 strategic direction for SafeAI.sg's research agenda, framework development priorities, and community programmes.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536192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353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Framework Review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57800" y="170078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and provide individual practitioner feedback on UARS methodology, risk band calibration, and control set recommendations at least annually.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" y="2743200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Emerging Risk Identification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290779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emerging AI risk domains, new use case categories, and governance gaps for the SafeAI.sg framework to address.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743200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Sector Promotion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57800" y="290779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Promote SafeAI.sg frameworks within respective professional networks; encourage contribution of real-world case studies.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675888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" y="3950208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767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Executive Sounding 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7280" y="41148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 as a sounding board for SPARK by CIO Academy Asia on SafeAI.sg strategy, partnerships, and programme development.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675888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3950208"/>
            <a:ext cx="384048" cy="384048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767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</a:rPr>
              <a:t>Maintain Independence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57800" y="41148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Uphold the non-regulatory, non-endorsement principles; flag any actual or potential conflicts of interest promptly.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681728"/>
            <a:ext cx="8138160" cy="292608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700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The Advisory Council is a governance and direction-setting body — it does not approve, endorse, certify, or regulate.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PART VII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Operating Principles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260604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61872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Proportionality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commensurate with risk. No AI use case bears more governance friction than its actual exposure warrants.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261872"/>
            <a:ext cx="260604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61872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990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Practicality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019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output designed for operational implementation by a working technology team — not merely for policy documentation.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261872"/>
            <a:ext cx="260604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261872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990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Independence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90195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does not regulate, certify, or endorse. Credibility rests on quality of analysis and trust of community.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044952"/>
            <a:ext cx="260604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44952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Inclusivity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68503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Frameworks accessible to mid-market enterprises, public agencies, and technology teams of all sizes.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044952"/>
            <a:ext cx="260604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044952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Continuous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Improvement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68503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Committed to a continuous update cycle for UARS, control recommendations, and the tool reference library.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044952"/>
            <a:ext cx="2606040" cy="1600200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044952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Transparency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68503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Methodology, framework development process, and risk band calibrations publicly documented and open to challenge.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V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</a:rPr>
              <a:t>Tool &amp; Technology Reference Programme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curated reference library across seven capability domains — open-source and commercial tools evaluated for each governance tier.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7552" y="16824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Agentic Identity &amp; Access Control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168249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Per-agent identity, dynamic permission scoping, agent authentication in multi-agent environments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813816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21579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Generative AI Firewalls &amp; Semantic Runtime Controls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15798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Semantic intent classification, jailbreak detection, PII redaction, egress filtering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78608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24328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7552" y="2633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AI Security Posture Management (AI-SPM)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26334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model inventory, shadow AI discovery, supply chain risk, configuration drift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054096"/>
            <a:ext cx="813816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099816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87552" y="3108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Agentic Workflow Observability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3108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Step-level tracing of agent reasoning, plan execution, tool calls, and memory operations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529584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575304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7552" y="3584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Data Security Posture Management for AI Infrastructure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60520" y="358444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knowledge store governance, inference pipeline data flows, embedding provenance, applicable data protection alignment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005072"/>
            <a:ext cx="813816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050792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7552" y="40599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Policy-as-Code Engines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60520" y="405993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Versioned machine-readable policies, automated propagation across systems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526280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87552" y="45354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Red-Team &amp; Adversarial Testing Frameworks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60520" y="45354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Adversarial prompt testing, agentic workflow stress testing, multi-agent cascading failure simulation, safety case construction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VII  ·  PILLAR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Associate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Showcase Programme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08176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demonstration environment — not an endorsement scheme. The question answered: does this product credibly address Governance Challenge Y for an organisation deploying AI at Risk Band Z?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3749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029968"/>
            <a:ext cx="6400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21408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69848" y="21031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Reference Architecture Demos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9848" y="2395728"/>
            <a:ext cx="3090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 how their product implements Tier 1/2/3 governance controls in a production-realistic environment, mapped to specific UARS dimensions.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029968"/>
            <a:ext cx="3749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29968"/>
            <a:ext cx="6400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2121408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30368" y="21031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Case Study Publications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0368" y="2395728"/>
            <a:ext cx="3090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Contribute anonymised or attributed case studies of real deployments addressing a specific governance challenge in Singapore or SEA enterprises.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172968"/>
            <a:ext cx="3749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72968"/>
            <a:ext cx="6400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264408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9848" y="32461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Community Knowledge Sharing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69848" y="3538728"/>
            <a:ext cx="3090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Participate as practitioners in SafeAI.sg roundtables and workshops, contributing technical depth on governance implementation challenges.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172968"/>
            <a:ext cx="3749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72968"/>
            <a:ext cx="6400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3264408"/>
            <a:ext cx="320040" cy="32004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30368" y="32461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Advisory Contributions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0368" y="3538728"/>
            <a:ext cx="3090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relevant, contribute technical expertise to framework development processes — subject to conflict-of-interest declaration requirements.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343400"/>
            <a:ext cx="8138160" cy="566928"/>
          </a:xfrm>
          <a:prstGeom prst="rect">
            <a:avLst/>
          </a:prstGeom>
          <a:solidFill>
            <a:srgbClr val="FFF8E1"/>
          </a:solidFill>
          <a:ln w="19050">
            <a:solidFill>
              <a:srgbClr val="E8A8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389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860B"/>
                </a:solidFill>
              </a:rPr>
              <a:t>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4389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5800"/>
                </a:solidFill>
              </a:rPr>
              <a:t>Non-Endorsement Boundary: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45902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58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SafeAI.sg does not test, validate, certify, or endorse any Associate technology for any regulatory requirement. Associate status does not imply compliance or certification.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PART X  ·  PILLAR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Certification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Skills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347472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Co-developed with Singapore's Institutes of Higher Learning  |  Aligned to national skills frameworks  |  Eligible for applicable skills funding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1965960" cy="321868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92224"/>
            <a:ext cx="1965960" cy="685800"/>
          </a:xfrm>
          <a:prstGeom prst="rect">
            <a:avLst/>
          </a:prstGeom>
          <a:solidFill>
            <a:srgbClr val="2A8A6E"/>
          </a:solidFill>
          <a:ln w="12700">
            <a:solidFill>
              <a:srgbClr val="2A8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</a:rPr>
              <a:t>LEVEL 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2093976"/>
            <a:ext cx="1783080" cy="18288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939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CAREER CONVERSION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Career Conversion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Certification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Non-technical professionals transitioning into AI governance, risk, and compliance roles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63016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BAD"/>
                </a:solidFill>
              </a:rPr>
              <a:t>Covers: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fundamentals &amp; risk literacy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94360" y="4169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UARS framework orientation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" y="4517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process basics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79192" y="1792224"/>
            <a:ext cx="1965960" cy="321868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79192" y="1792224"/>
            <a:ext cx="19659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0632" y="1828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</a:rPr>
              <a:t>LEVEL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70632" y="2093976"/>
            <a:ext cx="1783080" cy="18288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0632" y="20939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PRACTITIONER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770632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SafeAI User &amp;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Citizen Builder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70632" y="3017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users, project managers, and citizen developers building or overseeing AI tools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70632" y="363016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BAD"/>
                </a:solidFill>
              </a:rPr>
              <a:t>Covers: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70632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Applying UARS self-service toolkit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70632" y="4169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1 governance controls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70632" y="4517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Responsible AI usage patterns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55464" y="1792224"/>
            <a:ext cx="1965960" cy="321868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55464" y="1792224"/>
            <a:ext cx="1965960" cy="68580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1828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</a:rPr>
              <a:t>LEVEL 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46904" y="2093976"/>
            <a:ext cx="1783080" cy="18288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20939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ENGINEER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946904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SafeAI Certified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Engineer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46904" y="3017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AI/ML engineers, MLOps specialists, and solution architects implementing governed AI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46904" y="363016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BAD"/>
                </a:solidFill>
              </a:rPr>
              <a:t>Covers: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46904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UARS scoring methodology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46904" y="4169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Tiers 1–3 technical controls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46904" y="4517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Policy-as-code implementation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031736" y="1792224"/>
            <a:ext cx="1965960" cy="3218688"/>
          </a:xfrm>
          <a:prstGeom prst="rect">
            <a:avLst/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31736" y="1792224"/>
            <a:ext cx="196596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23176" y="1828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</a:rPr>
              <a:t>LEVEL 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23176" y="2093976"/>
            <a:ext cx="1783080" cy="18288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23176" y="20939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</a:rPr>
              <a:t>CHIEF ARCHITECT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123176" y="25420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SafeAI Certified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Chief Architect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23176" y="3017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Senior AI architects, CISOs, and governance leads responsible for enterprise-wide AI safety strategy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23176" y="363016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9BAD"/>
                </a:solidFill>
              </a:rPr>
              <a:t>Covers: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23176" y="3822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AI safety architecture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123176" y="4169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AI safety stack design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23176" y="4517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Advisory &amp; organisational governance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2920" y="50749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levels include a structured continuing education requirement to maintain certification currency as AI technology and governance guidance evolves.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PART XI  ·  NEW TECHNICAL PILLAR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Runtime Observability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566928"/>
          </a:xfrm>
          <a:prstGeom prst="rect">
            <a:avLst/>
          </a:prstGeom>
          <a:solidFill>
            <a:srgbClr val="1A3A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Insight: </a:t>
            </a:r>
            <a:r>
              <a:rPr lang="en-US" sz="10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 systems declare intent before they act. The technical opportunity — and the gap the industry has not yet addressed — is to intercept, evaluate, and govern that declared intent </a:t>
            </a:r>
            <a:r>
              <a:rPr lang="en-US" sz="105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the action is taken, not after.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2606040" cy="2907792"/>
          </a:xfrm>
          <a:prstGeom prst="rect">
            <a:avLst/>
          </a:prstGeom>
          <a:solidFill>
            <a:srgbClr val="1A3A4A"/>
          </a:solidFill>
          <a:ln w="1524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93392"/>
            <a:ext cx="2606040" cy="457200"/>
          </a:xfrm>
          <a:prstGeom prst="rect">
            <a:avLst/>
          </a:prstGeom>
          <a:solidFill>
            <a:srgbClr val="0A1929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029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GAP 1  —  Pre-Execution Intent Interception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640080" cy="16459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87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C39A"/>
                </a:solidFill>
              </a:rPr>
              <a:t>TECHNICAL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94360" y="2679192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mature tooling exists to intercept and evaluate an agent's declared intent before tool execution. The evaluation layer between reasoning step and action step does not yet exist at enterprise grade.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3630168"/>
            <a:ext cx="804672" cy="16459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301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C39A"/>
                </a:solidFill>
              </a:rPr>
              <a:t>PROCESS/POLICY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industry standard for intent-level governance policies. Organisations face both a tooling gap and a policy vacuum simultaneously.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498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Current: Early prototype phase. Most organisations have no awareness this governance window exists.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37560" y="1993392"/>
            <a:ext cx="2606040" cy="2907792"/>
          </a:xfrm>
          <a:prstGeom prst="rect">
            <a:avLst/>
          </a:prstGeom>
          <a:solidFill>
            <a:srgbClr val="1A3A4A"/>
          </a:solidFill>
          <a:ln w="1524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993392"/>
            <a:ext cx="2606040" cy="457200"/>
          </a:xfrm>
          <a:prstGeom prst="rect">
            <a:avLst/>
          </a:prstGeom>
          <a:solidFill>
            <a:srgbClr val="0A1929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029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GAP 2  —  Real-Time Reasoning Transparency &amp; Trajectory Monitoring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2487168"/>
            <a:ext cx="640080" cy="16459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487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C39A"/>
                </a:solidFill>
              </a:rPr>
              <a:t>TECHNICAL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429000" y="2679192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tools record actions post-execution. Real-time evaluation of trajectory risk — with mid-trajectory intervention capability — is not yet a generally available production capability.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29000" y="3630168"/>
            <a:ext cx="804672" cy="16459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6301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C39A"/>
                </a:solidFill>
              </a:rPr>
              <a:t>PROCESS/POLICY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429000" y="382219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trajectory-level governance policy standards. Risk appetite statements address individual actions, not cumulative reasoning trajectories.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29000" y="4498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Current: Active research area. Post-hoc replay exists; real-time mid-trajectory intervention does not.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72200" y="1993392"/>
            <a:ext cx="2606040" cy="2907792"/>
          </a:xfrm>
          <a:prstGeom prst="rect">
            <a:avLst/>
          </a:prstGeom>
          <a:solidFill>
            <a:srgbClr val="1A3A4A"/>
          </a:solidFill>
          <a:ln w="15240">
            <a:solidFill>
              <a:srgbClr val="1A5C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993392"/>
            <a:ext cx="2606040" cy="457200"/>
          </a:xfrm>
          <a:prstGeom prst="rect">
            <a:avLst/>
          </a:prstGeom>
          <a:solidFill>
            <a:srgbClr val="0A1929"/>
          </a:solidFill>
          <a:ln w="15240">
            <a:solidFill>
              <a:srgbClr val="1A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2029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8A"/>
                </a:solidFill>
              </a:rPr>
              <a:t>GAP 3  —  Adversarial Reasoning Manipulation &amp; Context Integrity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2487168"/>
            <a:ext cx="640080" cy="16459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487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C39A"/>
                </a:solidFill>
              </a:rPr>
              <a:t>TECHNICAL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263640" y="2679192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window content can be manipulated through adversarial injection — silently altering the agent's reasoning without triggering action-level monitoring alerts.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63640" y="3630168"/>
            <a:ext cx="804672" cy="16459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6301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C39A"/>
                </a:solidFill>
              </a:rPr>
              <a:t>PROCESS/POLICY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263640" y="382219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enterprise policies for context window integrity governance. No incident response category for context-level compromise. Regulatory frameworks do not yet address this.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4498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Current: Nascent. Enterprise security programmes have not incorporated context integrity as a systematic concern.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2920" y="4956048"/>
            <a:ext cx="8138160" cy="155448"/>
          </a:xfrm>
          <a:prstGeom prst="rect">
            <a:avLst/>
          </a:prstGeom>
          <a:solidFill>
            <a:srgbClr val="0D2137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974336"/>
            <a:ext cx="7955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</a:rPr>
              <a:t>Intent Window Principle: Retroactive monitoring is necessary but not sufficient for consequential agentic deployments.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PART XII  ·  NEW GOVERNANCE DIMENSION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FinOps &amp; Cost Governance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43000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Responsible AI governance extends beyond safety and compliance. As AI workloads scale, token economics become a material governance concern — unmanaged token spend creates exposure from budget overrun to adversarial denial-of-wallet attacks.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26060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883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Inform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2212848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visibility into AI cost drivers across all workloads, models, teams, and use cases. Telemetry, tagging, and dashboarding infrastructure required for informed governance decisions.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28800"/>
            <a:ext cx="2606040" cy="347472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883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Optimise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2212848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Active reduction of unnecessary token consumption without degrading governance quality — through prompt compression, context window management, model routing, caching, and batch processing design.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828800"/>
            <a:ext cx="26060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883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Operate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2212848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Embedding cost governance into standard AI workload operating procedures — through budget policies, anomaly alerting, chargeback mechanisms, and regular FinOps reviews treating AI cost as shared organisational responsibility.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218688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18688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310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Controls by UARS Tier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" y="36027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Tier 1 (7–10):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2648" y="37490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budget limits, usage dashboards, model version pinning, monthly spend review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2648" y="40233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Tier 2 (11–15):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" y="41696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Per-session token budgets, context compression, tool call truncation, real-time cost anomaly alerting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" y="44439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Tier 3 (16–21):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" y="45902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spend posture management, DoW attack detection, chargeback mechanisms, pre-deployment cost modelling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37560" y="3218688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218688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3310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Token Budget Best Practices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47288" y="36027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Hard budget limits: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47288" y="37490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Enforced at API gateway or orchestration layer — not merely monitored as a soft target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47288" y="40233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Context window hygiene: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47288" y="41696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Prune stale tool call results and completed plan steps from active context in long-running agent sessions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47288" y="44439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Graceful degradation: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47288" y="45902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Budget exhaustion should notify the user and offer a completion path — never result in silent failure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72200" y="3218688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218688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33101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Cost Anomaly as Security Signal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36027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DoW attack detection: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81928" y="37490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Statistically significant token consumption spikes are treated as potential security incidents, not billing exceptions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81928" y="40233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Escalation path: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81928" y="41696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 anomalies through AI incident response process — not just finance review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81928" y="44439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Model right-sizing: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81928" y="45902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Quarterly review of whether frontier model usage can be partially substituted by smaller alternatives without governance quality degradation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5102352"/>
            <a:ext cx="81381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371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5029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CHARTER ADMINISTRATION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822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 Foundation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Confident AI Deployment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05840" y="2386584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Charter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26243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Reviewed by the Advisory Council at minimum annually and updated to reflect material changes in scope, structure, or operating environment.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3136392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81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Amendment 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337413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Proposed by executive team or any Council member. Circulated 30 days before formal meeting; requires majority agreement to take effect.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88620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31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Effective 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412394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Takes effect upon adoption by the founding Advisory Council and remains in force until superseded by a subsequently approved version.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4663440"/>
            <a:ext cx="7772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50" dirty="0">
                <a:solidFill>
                  <a:srgbClr val="7A9BAD"/>
                </a:solidFill>
              </a:rPr>
              <a:t>SafeAI.sg  ·  SPARK by CIO Academy Asia  ·  Singapore  ·  david@wahspark.com  ·  safeai.sg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SafeAI.sg Advisory Council Charter v6</dc:title>
  <dc:subject>PptxGenJS Presentation</dc:subject>
  <dc:creator>PptxGenJS</dc:creator>
  <cp:lastModifiedBy>david chin</cp:lastModifiedBy>
  <cp:revision>4</cp:revision>
  <dcterms:created xsi:type="dcterms:W3CDTF">2026-05-11T18:58:42Z</dcterms:created>
  <dcterms:modified xsi:type="dcterms:W3CDTF">2026-05-19T08:03:04Z</dcterms:modified>
</cp:coreProperties>
</file>